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7.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77" r:id="rId5"/>
    <p:sldId id="268" r:id="rId6"/>
    <p:sldId id="258" r:id="rId7"/>
    <p:sldId id="266" r:id="rId8"/>
    <p:sldId id="259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8" r:id="rId17"/>
    <p:sldId id="276" r:id="rId18"/>
  </p:sldIdLst>
  <p:sldSz cx="12192000" cy="6858000"/>
  <p:notesSz cx="6858000" cy="9144000"/>
  <p:custDataLst>
    <p:tags r:id="rId19"/>
  </p:custDataLst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0" d="100"/>
          <a:sy n="0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tags" Target="tags/tag1.xml" /><Relationship Id="rId2" Type="http://schemas.openxmlformats.org/officeDocument/2006/relationships/slide" Target="slides/slide1.xml" /><Relationship Id="rId20" Type="http://schemas.openxmlformats.org/officeDocument/2006/relationships/presProps" Target="presProps.xml" /><Relationship Id="rId21" Type="http://schemas.openxmlformats.org/officeDocument/2006/relationships/viewProps" Target="viewProps.xml" /><Relationship Id="rId22" Type="http://schemas.openxmlformats.org/officeDocument/2006/relationships/theme" Target="theme/theme1.xml" /><Relationship Id="rId23" Type="http://schemas.openxmlformats.org/officeDocument/2006/relationships/tableStyles" Target="tableStyles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2311-5796-4D92-8B92-2B4795EAC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71A71-7D29-4E9B-AFE3-5CADF4CFD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813D3-C634-4FF3-8D32-2EF98389E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C5B60-3C3D-4C3B-8877-AA825265D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27331-C454-4660-A0F5-DC7FA80A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3184419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7724-8455-4327-81DD-FFDDF90D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2BD9-0F4B-446C-853F-3184E1781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35F9A-E156-4ACF-B29A-319E1237E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C53E8-7490-4CB6-B888-C93C72F9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367D9-3537-4BB4-9C87-C12FD83B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630878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ACA3-EEAC-401C-9132-E2A36943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B72F-2A56-4AEF-B63B-B5CCA3D7B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A2DF-EB71-4973-AEE8-17219B6C4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9EF9E-1CB1-45B6-8715-E0D51530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3C7B8-E5D2-4F1A-BA28-48EC64416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054142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3E577-514C-49D4-B6D5-92949EFC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FAF62-10C7-442E-8561-0CCFD8AB2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D2BFA-9F35-4D6A-AF70-8C31AEB33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F3E7-F7A9-4B35-A4C1-04DDD6B1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98B50-8168-42DE-8DD2-D92CA551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AC3FE-CE07-435C-ADCA-4B6F7CD8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9019482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C6DA-87E7-42E1-AAF1-0EADDDE1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927D0-9120-4CEA-B3C8-3D3F890DB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17B8-055B-47A2-B82A-CCC69361F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C84C6-8A59-4C4B-B5AA-AF392B267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B45F3-3D90-433C-9307-AEEF0B4800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143E4-D8B9-4B1C-BFE5-D2B53BF12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D4244-AFDA-4F43-96B1-CEC2B6A1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E36CB-4C6D-45AE-BA7C-0B624E47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2866125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BBEC9-EB1B-413D-B599-5B4CBE34E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9B0DF-E9C6-4DE1-804A-D3999B84D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FA565-7EDD-4D9A-A963-81D2CC14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A1753-E494-47EF-ADDB-62CD9CFB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3342215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081FA7-B983-44F5-8E8F-FCA535E1D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BE615-7FCE-4A2F-9120-660F44381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8D914-ADCE-4CA5-BD7B-FE759AEC1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5863334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9F8A-E7C1-407A-B59C-D0C08DF9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75756-500E-4309-A56D-0829F6D4F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7D89D-C0AF-4885-9FF2-18B9DD9D0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A91E-EF70-4EDE-8169-08C2D007F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CD98-F114-418C-B063-A457CE0F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CE7D6-D13A-43FF-B0DF-30D45BDC5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569994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9620D-E96E-4F5C-B265-07D2774CD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9B6DE-6F66-4B68-8E0A-0BA79B9C5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B0E34-0551-49F7-AF8B-DBF2BCB25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3A8C6-90B7-4DFB-A339-9EB6EF66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C5CDA-535D-4FAE-B749-0ABA97BB9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73FC7-2636-440D-960D-4C227D77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3146164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1890-F081-4FBB-B354-A366B3AF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7C9BC-C734-4F5C-BC68-02D282094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8567C-676D-414C-85D9-706C49D2F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E30D8-B470-4069-8790-F7EACF48B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FF9F3-F446-485B-9FDD-14CD9A16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306666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A8382B-76C4-4038-9734-7EDCDBA05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D5F7E6-191D-4234-89B1-E9881F7C2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6BDEC-6738-4A83-A845-83A4D78C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CAEB9-F7F9-4D27-8200-DA99B828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7C03-41B0-45C4-8852-741E27724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909673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1381D0-8B4E-4322-B759-D62C1149A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1EFC4-8582-40FC-9B09-CD5D7FD97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42A03-E7FF-4578-9640-1898FD483D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24D35-FF60-4F5C-A7D5-9E71BF71C1FF}" type="datetimeFigureOut">
              <a:rPr lang="he-IL" smtClean="0"/>
              <a:t>ט'/טבת/תשפ"ב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DE516-EECF-41E4-97C7-0A22ABDD0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25C89-9409-4E24-8D83-476CB8A4E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5E67A-F7B1-40A4-AD0D-1EAFB478AC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1925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Relationship Id="rId4" Type="http://schemas.openxmlformats.org/officeDocument/2006/relationships/image" Target="../media/image3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image" Target="../media/image1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Relationship Id="rId3" Type="http://schemas.openxmlformats.org/officeDocument/2006/relationships/image" Target="../media/image1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Relationship Id="rId3" Type="http://schemas.openxmlformats.org/officeDocument/2006/relationships/image" Target="../media/image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Relationship Id="rId3" Type="http://schemas.openxmlformats.org/officeDocument/2006/relationships/image" Target="../media/image3.png" /><Relationship Id="rId4" Type="http://schemas.openxmlformats.org/officeDocument/2006/relationships/image" Target="../media/image4.png" /><Relationship Id="rId5" Type="http://schemas.openxmlformats.org/officeDocument/2006/relationships/image" Target="../media/image2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0DC3-F604-4C91-AA5B-9A85DFD51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/>
              <a:t>קורס מערכות לומדות קיץ 2021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F5000-ECAB-4CC4-B439-1F726303D6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הערות ודגשים לגבי התרגילים הרטובים</a:t>
            </a:r>
            <a:endParaRPr lang="en-US"/>
          </a:p>
          <a:p>
            <a:r>
              <a:rPr lang="he-IL"/>
              <a:t>סיכום נושאים שהועברו</a:t>
            </a:r>
          </a:p>
          <a:p>
            <a:r>
              <a:rPr lang="he-IL"/>
              <a:t>הכנה </a:t>
            </a:r>
            <a:r>
              <a:rPr lang="he-IL" b="1">
                <a:solidFill>
                  <a:srgbClr val="FF0000"/>
                </a:solidFill>
              </a:rPr>
              <a:t>לקרב</a:t>
            </a:r>
            <a:endParaRPr lang="en-US" b="1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22E83-BFA7-4A0D-8762-FC86D18D6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685" y="198401"/>
            <a:ext cx="3178629" cy="21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95979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0DC3-F604-4C91-AA5B-9A85DFD51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/>
              <a:t>קורס מערכות לומדות קיץ 2021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F5000-ECAB-4CC4-B439-1F726303D6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/>
              <a:t>הערות ודגשים לגבי התרגילים הרטובים</a:t>
            </a:r>
            <a:endParaRPr lang="en-US"/>
          </a:p>
          <a:p>
            <a:r>
              <a:rPr lang="he-IL"/>
              <a:t>סיכום נושאים שהועברו</a:t>
            </a:r>
          </a:p>
          <a:p>
            <a:r>
              <a:rPr lang="he-IL"/>
              <a:t>הכנה </a:t>
            </a:r>
            <a:r>
              <a:rPr lang="he-IL" err="1">
                <a:solidFill>
                  <a:schemeClr val="accent6">
                    <a:lumMod val="75000"/>
                  </a:schemeClr>
                </a:solidFill>
              </a:rPr>
              <a:t>להאקט'ון</a:t>
            </a:r>
            <a:endParaRPr 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EF369-50C5-4CDA-A8D0-84D5D57D1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685" y="198401"/>
            <a:ext cx="3178629" cy="211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83963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2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Ex. 0:</a:t>
            </a:r>
            <a:r>
              <a:rPr lang="en-US"/>
              <a:t> basic script importing a Matlab .mat file to a </a:t>
            </a:r>
            <a:r>
              <a:rPr lang="en-US" i="1">
                <a:solidFill>
                  <a:srgbClr val="C00000"/>
                </a:solidFill>
              </a:rPr>
              <a:t>Pandas Dataframe</a:t>
            </a:r>
            <a:r>
              <a:rPr lang="en-US"/>
              <a:t>.</a:t>
            </a:r>
            <a:br>
              <a:rPr lang="en-US"/>
            </a:br>
            <a:r>
              <a:rPr lang="en-US"/>
              <a:t>Pandas Dataframes hold data in </a:t>
            </a:r>
            <a:r>
              <a:rPr lang="en-US" i="1"/>
              <a:t>named</a:t>
            </a:r>
            <a:r>
              <a:rPr lang="en-US"/>
              <a:t> columns with </a:t>
            </a:r>
            <a:r>
              <a:rPr lang="en-US" i="1"/>
              <a:t>indexed</a:t>
            </a:r>
            <a:r>
              <a:rPr lang="en-US"/>
              <a:t> rows.</a:t>
            </a:r>
            <a:br>
              <a:rPr lang="en-US"/>
            </a:br>
            <a:r>
              <a:rPr lang="en-US"/>
              <a:t>Useful tool, numerous use cases.</a:t>
            </a:r>
          </a:p>
          <a:p>
            <a:r>
              <a:rPr lang="en-US" u="sng"/>
              <a:t>Ex. 1:</a:t>
            </a:r>
            <a:r>
              <a:rPr lang="en-US"/>
              <a:t> introduces NumPy and a simple vectorization solution.</a:t>
            </a:r>
          </a:p>
          <a:p>
            <a:r>
              <a:rPr lang="en-US" u="sng"/>
              <a:t>Ex. 2:</a:t>
            </a:r>
            <a:r>
              <a:rPr lang="en-US"/>
              <a:t> introduces Matplotlib, a few common NumPy “tricks”.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2C449-1249-40F8-903A-4F9D2F85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318264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2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Ex. 0:</a:t>
            </a:r>
            <a:r>
              <a:rPr lang="en-US"/>
              <a:t> basic script importing a Matlab .mat file to a </a:t>
            </a:r>
            <a:r>
              <a:rPr lang="en-US" i="1">
                <a:solidFill>
                  <a:srgbClr val="C00000"/>
                </a:solidFill>
              </a:rPr>
              <a:t>Pandas Dataframe</a:t>
            </a:r>
            <a:r>
              <a:rPr lang="en-US"/>
              <a:t>.</a:t>
            </a:r>
            <a:br>
              <a:rPr lang="en-US"/>
            </a:br>
            <a:r>
              <a:rPr lang="en-US"/>
              <a:t>Pandas Dataframes hold data in </a:t>
            </a:r>
            <a:r>
              <a:rPr lang="en-US" i="1"/>
              <a:t>named</a:t>
            </a:r>
            <a:r>
              <a:rPr lang="en-US"/>
              <a:t> columns with </a:t>
            </a:r>
            <a:r>
              <a:rPr lang="en-US" i="1"/>
              <a:t>indexed</a:t>
            </a:r>
            <a:r>
              <a:rPr lang="en-US"/>
              <a:t> rows.</a:t>
            </a:r>
            <a:br>
              <a:rPr lang="en-US"/>
            </a:br>
            <a:r>
              <a:rPr lang="en-US"/>
              <a:t>Useful tool, numerous use cases.</a:t>
            </a:r>
          </a:p>
          <a:p>
            <a:r>
              <a:rPr lang="en-US" u="sng"/>
              <a:t>Ex. 1:</a:t>
            </a:r>
            <a:r>
              <a:rPr lang="en-US"/>
              <a:t> introduces NumPy and a simple vectorization solution.</a:t>
            </a:r>
          </a:p>
          <a:p>
            <a:r>
              <a:rPr lang="en-US" u="sng"/>
              <a:t>Ex. 2:</a:t>
            </a:r>
            <a:r>
              <a:rPr lang="en-US"/>
              <a:t> introduces Matplotlib, a few common NumPy “tricks”.</a:t>
            </a:r>
          </a:p>
          <a:p>
            <a:endParaRPr lang="en-US"/>
          </a:p>
          <a:p>
            <a:pPr marL="0" indent="0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</a:t>
            </a:r>
            <a:r>
              <a:rPr lang="en-US"/>
              <a:t>:              &gt;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2C449-1249-40F8-903A-4F9D2F851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09B4A1-C30C-4266-81DE-A9E1543FE50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88" y="4397989"/>
            <a:ext cx="819150" cy="715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D958E9-6CCC-4F38-A799-43DAFC6C797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321">
            <a:off x="5460131" y="4214762"/>
            <a:ext cx="427081" cy="85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650479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3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3:</a:t>
            </a:r>
            <a:r>
              <a:rPr lang="en-US"/>
              <a:t> PSD estimation on non-regularly sampled data.</a:t>
            </a:r>
            <a:br>
              <a:rPr lang="en-US"/>
            </a:br>
            <a:r>
              <a:rPr lang="en-US"/>
              <a:t>Main idea: demonstrate SciPy’s signal-processing capabilities.</a:t>
            </a:r>
            <a:br>
              <a:rPr lang="en-US"/>
            </a:br>
            <a:br>
              <a:rPr lang="en-US"/>
            </a:br>
          </a:p>
          <a:p>
            <a:pPr marL="0" indent="0">
              <a:buNone/>
            </a:pPr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638D76-074A-40A2-94C5-627685093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28544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3 (cont’)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3:</a:t>
            </a:r>
            <a:r>
              <a:rPr lang="en-US"/>
              <a:t> PSD estimation on non-regularly sampled data.</a:t>
            </a:r>
            <a:br>
              <a:rPr lang="en-US"/>
            </a:br>
            <a:r>
              <a:rPr lang="en-US"/>
              <a:t>Main idea: demonstrate SciPy’s signal-processing capabilities.</a:t>
            </a:r>
            <a:br>
              <a:rPr lang="en-US"/>
            </a:br>
            <a:br>
              <a:rPr lang="en-US"/>
            </a:b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</a:t>
            </a:r>
            <a:r>
              <a:rPr lang="en-US"/>
              <a:t>:                &gt;         &gt;</a:t>
            </a:r>
            <a:br>
              <a:rPr lang="en-US"/>
            </a:br>
          </a:p>
          <a:p>
            <a:pPr marL="0" indent="0">
              <a:buNone/>
            </a:pPr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55A68C-DDCD-420E-92B7-DC05B977C53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427" y="2748051"/>
            <a:ext cx="819150" cy="715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378A86-7CB6-4D9B-BF26-E302AC63D59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321">
            <a:off x="6721557" y="2678666"/>
            <a:ext cx="427081" cy="854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72E11A-8D56-4274-A294-CCDABB534A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818" y="2676606"/>
            <a:ext cx="629405" cy="8582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F072D6-7190-4213-A551-30A3DE484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80722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3 (cont’)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4:</a:t>
            </a:r>
            <a:r>
              <a:rPr lang="en-US"/>
              <a:t> Cython optimization, profiling.</a:t>
            </a:r>
          </a:p>
          <a:p>
            <a:pPr lvl="1"/>
            <a:r>
              <a:rPr lang="en-US"/>
              <a:t>Introduced </a:t>
            </a:r>
            <a:r>
              <a:rPr lang="en-US" u="sng" err="1"/>
              <a:t>lprun</a:t>
            </a:r>
            <a:r>
              <a:rPr lang="en-US"/>
              <a:t>, Python’s line profiler.</a:t>
            </a:r>
          </a:p>
          <a:p>
            <a:pPr lvl="1"/>
            <a:r>
              <a:rPr lang="en-US"/>
              <a:t>Introduced Cython, Python’s static compiler.</a:t>
            </a:r>
          </a:p>
          <a:p>
            <a:pPr lvl="2"/>
            <a:r>
              <a:rPr lang="en-US"/>
              <a:t>Use NumPy arrays as “memoryviews”.</a:t>
            </a:r>
          </a:p>
          <a:p>
            <a:pPr lvl="2"/>
            <a:r>
              <a:rPr lang="en-US"/>
              <a:t>Demonstrate &gt;1000 (~) speedup over native Python for loops.</a:t>
            </a:r>
          </a:p>
          <a:p>
            <a:pPr lvl="2"/>
            <a:r>
              <a:rPr lang="en-US"/>
              <a:t>Demonstrate bounds-check disabling.</a:t>
            </a:r>
          </a:p>
          <a:p>
            <a:pPr lvl="2"/>
            <a:r>
              <a:rPr lang="en-US"/>
              <a:t>Demonstrate parallel loop execution.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messages</a:t>
            </a:r>
            <a:r>
              <a:rPr lang="en-US"/>
              <a:t>:</a:t>
            </a:r>
          </a:p>
          <a:p>
            <a:pPr lvl="2"/>
            <a:r>
              <a:rPr lang="en-US"/>
              <a:t>Typically not too difficult to obtain “native” machine speed.</a:t>
            </a:r>
          </a:p>
          <a:p>
            <a:pPr lvl="2"/>
            <a:r>
              <a:rPr lang="en-US"/>
              <a:t>Compiling also means worrying about cross-platform, etc.</a:t>
            </a:r>
          </a:p>
          <a:p>
            <a:pPr lvl="2"/>
            <a:r>
              <a:rPr lang="en-US"/>
              <a:t>Sometimes the best approach is </a:t>
            </a:r>
            <a:r>
              <a:rPr lang="en-US" b="1"/>
              <a:t>brute force.</a:t>
            </a:r>
          </a:p>
          <a:p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7603690-F70A-4FC0-9993-16DCC8CE02B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321">
            <a:off x="6951974" y="5528563"/>
            <a:ext cx="427081" cy="8541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93A145-1451-4B0F-8829-A670146B6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855728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4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5:</a:t>
            </a:r>
            <a:r>
              <a:rPr lang="en-US"/>
              <a:t> Regressions</a:t>
            </a:r>
          </a:p>
          <a:p>
            <a:pPr lvl="1"/>
            <a:r>
              <a:rPr lang="en-US"/>
              <a:t>OLS (ordinary least squares) linear regression,</a:t>
            </a:r>
          </a:p>
          <a:p>
            <a:pPr lvl="1"/>
            <a:r>
              <a:rPr lang="en-US"/>
              <a:t>Robust linear regression,</a:t>
            </a:r>
          </a:p>
          <a:p>
            <a:pPr lvl="1"/>
            <a:r>
              <a:rPr lang="en-US"/>
              <a:t>Ordinary / robust nonlinear (polynomially-inflated) regression,</a:t>
            </a:r>
          </a:p>
          <a:p>
            <a:pPr lvl="1"/>
            <a:r>
              <a:rPr lang="en-US"/>
              <a:t>Leave-one-out testing.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</a:t>
            </a:r>
            <a:r>
              <a:rPr lang="en-US"/>
              <a:t>: not all statistics are sufficient statistics.</a:t>
            </a:r>
            <a:endParaRPr lang="he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E2D08-FB80-418E-A656-577D354BB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05691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4 (cont’)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6:</a:t>
            </a:r>
            <a:r>
              <a:rPr lang="en-US"/>
              <a:t> feature extraction, parameter tuning / optimization</a:t>
            </a:r>
          </a:p>
          <a:p>
            <a:pPr lvl="1"/>
            <a:r>
              <a:rPr lang="en-US"/>
              <a:t>Time series feature extraction (via Pandas’ rolling() function),</a:t>
            </a:r>
          </a:p>
          <a:p>
            <a:pPr lvl="1"/>
            <a:r>
              <a:rPr lang="en-US"/>
              <a:t>Introduction to Scikit-Learn’s API: fit(), predict().</a:t>
            </a:r>
          </a:p>
          <a:p>
            <a:pPr lvl="1"/>
            <a:r>
              <a:rPr lang="en-US"/>
              <a:t>Controller parameter optimization via </a:t>
            </a:r>
            <a:r>
              <a:rPr lang="en-US" b="1" err="1">
                <a:solidFill>
                  <a:srgbClr val="C00000"/>
                </a:solidFill>
              </a:rPr>
              <a:t>Optuna’s</a:t>
            </a:r>
            <a:r>
              <a:rPr lang="en-US"/>
              <a:t> black-box CMA-ES stochastic optimization.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messages</a:t>
            </a:r>
            <a:r>
              <a:rPr lang="en-US"/>
              <a:t>:</a:t>
            </a:r>
          </a:p>
          <a:p>
            <a:pPr lvl="2"/>
            <a:r>
              <a:rPr lang="en-US"/>
              <a:t>When optimizing over a few (&lt;= O(100)) parameters, </a:t>
            </a:r>
            <a:r>
              <a:rPr lang="en-US" b="1"/>
              <a:t>black-box</a:t>
            </a:r>
            <a:r>
              <a:rPr lang="en-US"/>
              <a:t> optimization</a:t>
            </a:r>
            <a:br>
              <a:rPr lang="en-US"/>
            </a:br>
            <a:r>
              <a:rPr lang="en-US"/>
              <a:t>can easily provide a solution (possibly global, but no performance guarantees).</a:t>
            </a:r>
          </a:p>
          <a:p>
            <a:pPr lvl="2"/>
            <a:r>
              <a:rPr lang="en-US"/>
              <a:t>The Optuna library is easy-to-use for such tasks.</a:t>
            </a:r>
            <a:endParaRPr lang="he-I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2191D-E7F5-477A-8E10-8F7513A1E3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24251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5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7:</a:t>
            </a:r>
            <a:r>
              <a:rPr lang="en-US"/>
              <a:t> distribution drift (a.k.a. </a:t>
            </a:r>
            <a:r>
              <a:rPr lang="en-US" i="1"/>
              <a:t>domain shift</a:t>
            </a:r>
            <a:r>
              <a:rPr lang="en-US"/>
              <a:t>, </a:t>
            </a:r>
            <a:r>
              <a:rPr lang="en-US" i="1"/>
              <a:t>concept drift</a:t>
            </a:r>
            <a:r>
              <a:rPr lang="en-US"/>
              <a:t>)</a:t>
            </a:r>
          </a:p>
          <a:p>
            <a:pPr lvl="1"/>
            <a:r>
              <a:rPr lang="en-US"/>
              <a:t>Demonstration of the (in)famous XOR problem using a linear model.</a:t>
            </a:r>
          </a:p>
          <a:p>
            <a:pPr lvl="1"/>
            <a:r>
              <a:rPr lang="en-US"/>
              <a:t>Introduction and use of a few “classical” algorithms:</a:t>
            </a:r>
          </a:p>
          <a:p>
            <a:pPr lvl="2"/>
            <a:r>
              <a:rPr lang="en-US"/>
              <a:t>K-nearest-neighbors,</a:t>
            </a:r>
          </a:p>
          <a:p>
            <a:pPr lvl="2"/>
            <a:r>
              <a:rPr lang="en-US"/>
              <a:t>Logistic regression.</a:t>
            </a:r>
          </a:p>
          <a:p>
            <a:pPr lvl="1"/>
            <a:r>
              <a:rPr lang="en-US"/>
              <a:t>Introduction to a number of useful Scikit-Learn utility functions:</a:t>
            </a:r>
          </a:p>
          <a:p>
            <a:pPr lvl="2"/>
            <a:r>
              <a:rPr lang="en-US" err="1"/>
              <a:t>make_pipeline(),</a:t>
            </a:r>
          </a:p>
          <a:p>
            <a:pPr lvl="2"/>
            <a:r>
              <a:rPr lang="en-US" err="1"/>
              <a:t>train_test_split().</a:t>
            </a:r>
          </a:p>
          <a:p>
            <a:pPr lvl="1"/>
            <a:r>
              <a:rPr lang="en-US"/>
              <a:t>Introduction to Scikit-Learn’s score() API.</a:t>
            </a:r>
          </a:p>
          <a:p>
            <a:pPr lvl="1"/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</a:t>
            </a:r>
            <a:r>
              <a:rPr lang="en-US"/>
              <a:t>: beware domain drift.</a:t>
            </a:r>
            <a:endParaRPr lang="he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E6C2D-CFB2-4741-AC84-8F843AE80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209" y="4421788"/>
            <a:ext cx="1112624" cy="1112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35F65B-2067-4C42-BC65-752AF20498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09934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6 (Midterm Hackathon)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8:</a:t>
            </a:r>
            <a:r>
              <a:rPr lang="en-US"/>
              <a:t> midterm hackathon</a:t>
            </a:r>
          </a:p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Take-home messages</a:t>
            </a:r>
            <a:r>
              <a:rPr lang="en-US"/>
              <a:t>:</a:t>
            </a:r>
          </a:p>
          <a:p>
            <a:pPr lvl="1"/>
            <a:r>
              <a:rPr lang="en-US"/>
              <a:t>Using “all possible” features probably not a good idea.</a:t>
            </a:r>
            <a:br>
              <a:rPr lang="en-US"/>
            </a:br>
          </a:p>
          <a:p>
            <a:pPr lvl="1"/>
            <a:r>
              <a:rPr lang="en-US"/>
              <a:t>Averaging (over some “natural” timeframe) can de-noise </a:t>
            </a:r>
            <a:br>
              <a:rPr lang="en-US"/>
            </a:br>
            <a:r>
              <a:rPr lang="en-US"/>
              <a:t>the features, assisting the downstream classification task.</a:t>
            </a:r>
            <a:br>
              <a:rPr lang="en-US"/>
            </a:br>
          </a:p>
          <a:p>
            <a:pPr lvl="1"/>
            <a:r>
              <a:rPr lang="en-US"/>
              <a:t>If at all possible, decomposing the problem into “natural”</a:t>
            </a:r>
            <a:br>
              <a:rPr lang="en-US"/>
            </a:br>
            <a:r>
              <a:rPr lang="en-US"/>
              <a:t>sub-problems is typically the best alternative.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E6868-6583-46CF-B8B9-5115AB93DAF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7321">
            <a:off x="10561654" y="2328918"/>
            <a:ext cx="427081" cy="854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5EF353-D5BB-414A-A3F2-D5A59CBAF5C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374" y="3525794"/>
            <a:ext cx="551755" cy="7523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ADA247-800E-4439-A5DB-756019E4168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8374" y="4576446"/>
            <a:ext cx="819150" cy="71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26180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7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u="sng"/>
              <a:t>Ex 9:</a:t>
            </a:r>
            <a:r>
              <a:rPr lang="en-US"/>
              <a:t> Noisy Features</a:t>
            </a:r>
          </a:p>
          <a:p>
            <a:pPr lvl="1"/>
            <a:r>
              <a:rPr lang="en-US"/>
              <a:t>Toy problem: XOR regression with noisy features.</a:t>
            </a:r>
          </a:p>
          <a:p>
            <a:pPr lvl="1"/>
            <a:r>
              <a:rPr lang="en-US"/>
              <a:t>Introduced a number of Scikit-Learn regression algorithms:</a:t>
            </a:r>
          </a:p>
          <a:p>
            <a:pPr lvl="2"/>
            <a:r>
              <a:rPr lang="en-US" err="1"/>
              <a:t>KNeighborsRegressor,</a:t>
            </a:r>
          </a:p>
          <a:p>
            <a:pPr lvl="2"/>
            <a:r>
              <a:rPr lang="en-US" err="1"/>
              <a:t>DecisionTreeRegressor,</a:t>
            </a:r>
          </a:p>
          <a:p>
            <a:pPr lvl="2"/>
            <a:r>
              <a:rPr lang="en-US" err="1"/>
              <a:t>AdaBoostRegressor.</a:t>
            </a:r>
          </a:p>
          <a:p>
            <a:pPr lvl="1"/>
            <a:r>
              <a:rPr lang="en-US"/>
              <a:t>Introduced the </a:t>
            </a:r>
            <a:r>
              <a:rPr lang="en-US" err="1">
                <a:solidFill>
                  <a:schemeClr val="accent6">
                    <a:lumMod val="75000"/>
                  </a:schemeClr>
                </a:solidFill>
              </a:rPr>
              <a:t>tqdm</a:t>
            </a:r>
            <a:r>
              <a:rPr lang="en-US"/>
              <a:t> class.</a:t>
            </a:r>
          </a:p>
          <a:p>
            <a:pPr lvl="1"/>
            <a:r>
              <a:rPr lang="en-US" u="sng">
                <a:solidFill>
                  <a:srgbClr val="C00000"/>
                </a:solidFill>
              </a:rPr>
              <a:t>Open problem</a:t>
            </a:r>
            <a:r>
              <a:rPr lang="en-US"/>
              <a:t>: when using a 2</a:t>
            </a:r>
            <a:r>
              <a:rPr lang="en-US" baseline="30000"/>
              <a:t>nd</a:t>
            </a:r>
            <a:r>
              <a:rPr lang="en-US"/>
              <a:t> degree polynomial LS regression,</a:t>
            </a:r>
            <a:br>
              <a:rPr lang="en-US"/>
            </a:br>
            <a:r>
              <a:rPr lang="en-US"/>
              <a:t>why on Earth does the cross-validated loss </a:t>
            </a:r>
            <a:r>
              <a:rPr lang="en-US">
                <a:solidFill>
                  <a:srgbClr val="C00000"/>
                </a:solidFill>
              </a:rPr>
              <a:t>spike</a:t>
            </a:r>
            <a:br>
              <a:rPr lang="en-US">
                <a:solidFill>
                  <a:srgbClr val="C00000"/>
                </a:solidFill>
              </a:rPr>
            </a:br>
            <a:r>
              <a:rPr lang="en-US"/>
              <a:t>when the num. of noise features</a:t>
            </a:r>
            <a:r>
              <a:rPr lang="en-US">
                <a:solidFill>
                  <a:srgbClr val="C00000"/>
                </a:solidFill>
              </a:rPr>
              <a:t> equals 4</a:t>
            </a:r>
            <a:r>
              <a:rPr lang="en-US"/>
              <a:t>? </a:t>
            </a:r>
          </a:p>
          <a:p>
            <a:pPr lvl="1"/>
            <a:r>
              <a:rPr lang="en-US" u="sng">
                <a:solidFill>
                  <a:srgbClr val="C00000"/>
                </a:solidFill>
              </a:rPr>
              <a:t>Clue (?)</a:t>
            </a:r>
            <a:r>
              <a:rPr lang="en-US"/>
              <a:t>: when using a 3</a:t>
            </a:r>
            <a:r>
              <a:rPr lang="en-US" baseline="30000"/>
              <a:t>rd</a:t>
            </a:r>
            <a:r>
              <a:rPr lang="en-US"/>
              <a:t> degree polynomial LS regression,</a:t>
            </a:r>
            <a:br>
              <a:rPr lang="en-US"/>
            </a:br>
            <a:r>
              <a:rPr lang="en-US"/>
              <a:t>the loss spikes when the number of noise features </a:t>
            </a:r>
            <a:r>
              <a:rPr lang="en-US">
                <a:solidFill>
                  <a:srgbClr val="C00000"/>
                </a:solidFill>
              </a:rPr>
              <a:t>equals 9</a:t>
            </a:r>
            <a:r>
              <a:rPr lang="en-US"/>
              <a:t>.</a:t>
            </a:r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0528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8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10:</a:t>
            </a:r>
            <a:r>
              <a:rPr lang="en-US"/>
              <a:t> CatBoost</a:t>
            </a:r>
          </a:p>
          <a:p>
            <a:pPr lvl="1"/>
            <a:r>
              <a:rPr lang="en-US"/>
              <a:t>Introduced CatBoostRegressor(), the CatBoost regression API.</a:t>
            </a:r>
          </a:p>
          <a:p>
            <a:pPr lvl="1"/>
            <a:r>
              <a:rPr lang="en-US"/>
              <a:t>Provides fast and reliable classification / regression.</a:t>
            </a:r>
          </a:p>
          <a:p>
            <a:pPr lvl="1"/>
            <a:r>
              <a:rPr lang="en-US"/>
              <a:t>Does not require feature scaling / normalization / etc.</a:t>
            </a:r>
          </a:p>
          <a:p>
            <a:pPr lvl="1"/>
            <a:r>
              <a:rPr lang="en-US"/>
              <a:t>Built-in support for categorical data (not cats).</a:t>
            </a:r>
          </a:p>
          <a:p>
            <a:pPr lvl="1"/>
            <a:r>
              <a:rPr lang="en-US"/>
              <a:t>Built-in support for regression uncertainty estimation via</a:t>
            </a:r>
            <a:br>
              <a:rPr lang="en-US"/>
            </a:br>
            <a:r>
              <a:rPr lang="en-US"/>
              <a:t>the ‘RMSEWithUncertainty’ loss function.</a:t>
            </a:r>
          </a:p>
          <a:p>
            <a:r>
              <a:rPr lang="en-US"/>
              <a:t>Take-home message:</a:t>
            </a:r>
          </a:p>
          <a:p>
            <a:pPr lvl="1"/>
            <a:r>
              <a:rPr lang="en-US" err="1"/>
              <a:t>CatBoost is a solid baseline when prototyping a new classifier / regressor,</a:t>
            </a:r>
          </a:p>
          <a:p>
            <a:pPr lvl="1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42871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9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11:</a:t>
            </a:r>
            <a:r>
              <a:rPr lang="en-US"/>
              <a:t> Dimensionality Reduction</a:t>
            </a:r>
          </a:p>
          <a:p>
            <a:pPr lvl="1"/>
            <a:r>
              <a:rPr lang="en-US"/>
              <a:t>Introduced PCA (via Scikit-Learn) and UMAP dimensionality reduction.</a:t>
            </a:r>
          </a:p>
          <a:p>
            <a:pPr lvl="1"/>
            <a:r>
              <a:rPr lang="en-US"/>
              <a:t>PCA optimal in capturing maximal variance for given output dimensionality.</a:t>
            </a:r>
          </a:p>
          <a:p>
            <a:pPr lvl="1"/>
            <a:r>
              <a:rPr lang="en-US"/>
              <a:t>Take-home messages:</a:t>
            </a:r>
          </a:p>
          <a:p>
            <a:pPr lvl="2"/>
            <a:r>
              <a:rPr lang="en-US"/>
              <a:t>Proper tool for communication / compression.</a:t>
            </a:r>
          </a:p>
          <a:p>
            <a:pPr lvl="2"/>
            <a:r>
              <a:rPr lang="en-US"/>
              <a:t>Not necessarily optimal for classification.</a:t>
            </a:r>
          </a:p>
          <a:p>
            <a:pPr lvl="2"/>
            <a:r>
              <a:rPr lang="en-US"/>
              <a:t>Stable …</a:t>
            </a:r>
          </a:p>
          <a:p>
            <a:pPr lvl="1"/>
            <a:r>
              <a:rPr lang="en-US"/>
              <a:t>UMAP optimally embeds a neighbor graph (calculated in the original,</a:t>
            </a:r>
            <a:br>
              <a:rPr lang="en-US"/>
            </a:br>
            <a:r>
              <a:rPr lang="en-US"/>
              <a:t>high dimensional space) into a low dimensional space.</a:t>
            </a:r>
          </a:p>
          <a:p>
            <a:pPr lvl="1"/>
            <a:r>
              <a:rPr lang="en-US"/>
              <a:t>Take</a:t>
            </a:r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73152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Session 10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12:</a:t>
            </a:r>
            <a:r>
              <a:rPr lang="en-US"/>
              <a:t> Time Series Classification / Regression</a:t>
            </a:r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88080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u="sng"/>
              <a:t>Session 11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Ex 13:</a:t>
            </a:r>
            <a:r>
              <a:rPr lang="en-US"/>
              <a:t> Clustering</a:t>
            </a:r>
          </a:p>
          <a:p>
            <a:pPr lvl="1"/>
            <a:r>
              <a:rPr lang="en-US"/>
              <a:t>Introduced HDBScan, a state-of-the-art clustering algorithm,</a:t>
            </a:r>
          </a:p>
          <a:p>
            <a:pPr lvl="1"/>
            <a:r>
              <a:rPr lang="en-US"/>
              <a:t>Demonstrated radar chirp periodicity detection via clustering,</a:t>
            </a:r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05039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3ABD-4C66-49F6-90B7-FA92C2E5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/>
              <a:t>Future Sessions</a:t>
            </a:r>
            <a:endParaRPr lang="he-IL" u="s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CBC23-7046-4A0E-865D-D6CFCAA64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Properly handling class imbalance.</a:t>
            </a:r>
          </a:p>
          <a:p>
            <a:r>
              <a:rPr lang="en-US"/>
              <a:t>Outlier detection</a:t>
            </a:r>
          </a:p>
          <a:p>
            <a:r>
              <a:rPr lang="en-US"/>
              <a:t>Out-of-Distribution (OoD) detection</a:t>
            </a:r>
          </a:p>
          <a:p>
            <a:r>
              <a:rPr lang="en-US"/>
              <a:t>Uncertainty estimation</a:t>
            </a:r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E5FD6-716E-48DE-A5A2-B7194470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812" y="299032"/>
            <a:ext cx="2187988" cy="145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2072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3.9600.0"/>
  <p:tag name="AS_RELEASE_DATE" val="2017.01.25"/>
  <p:tag name="AS_TITLE" val="Aspose.Slides for .NET 4.0"/>
  <p:tag name="AS_VERSION" val="17.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105</Paragraphs>
  <Slides>17</Slides>
  <Notes>0</Notes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baseType="lpstr" size="18">
      <vt:lpstr>Office Theme</vt:lpstr>
      <vt:lpstr>קורס מערכות לומדות קיץ 2021</vt:lpstr>
      <vt:lpstr>קורס מערכות לומדות קיץ 2021</vt:lpstr>
      <vt:lpstr>Session 2</vt:lpstr>
      <vt:lpstr>Session 2</vt:lpstr>
      <vt:lpstr>Session 3</vt:lpstr>
      <vt:lpstr>Session 3 (cont’)</vt:lpstr>
      <vt:lpstr>Session 3 (cont’)</vt:lpstr>
      <vt:lpstr>Session 4</vt:lpstr>
      <vt:lpstr>Session 4 (cont’)</vt:lpstr>
      <vt:lpstr>Session 5</vt:lpstr>
      <vt:lpstr>Session 6 (Midterm Hackathon)</vt:lpstr>
      <vt:lpstr>Session 7</vt:lpstr>
      <vt:lpstr>Session 8</vt:lpstr>
      <vt:lpstr>Session 9</vt:lpstr>
      <vt:lpstr>Session 10</vt:lpstr>
      <vt:lpstr>Session 11</vt:lpstr>
      <vt:lpstr>Future Sessions</vt:lpstr>
    </vt:vector>
  </TitlesOfParts>
  <LinksUpToDate>0</LinksUpToDate>
  <SharedDoc>0</SharedDoc>
  <HyperlinksChanged>0</HyperlinksChanged>
  <Application>Aspose.Slides for .NET</Application>
  <AppVersion>17.0100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2021-12-14T16:27:26.578</cp:lastPrinted>
  <dcterms:created xsi:type="dcterms:W3CDTF">2021-12-14T16:27:26Z</dcterms:created>
  <dcterms:modified xsi:type="dcterms:W3CDTF">2021-12-14T14:27:26Z</dcterms:modified>
</cp:coreProperties>
</file>